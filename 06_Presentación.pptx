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</p:sldMasterIdLst>
  <p:notesMasterIdLst>
    <p:notesMasterId r:id="rId13"/>
  </p:notesMasterIdLst>
  <p:handoutMasterIdLst>
    <p:handoutMasterId r:id="rId14"/>
  </p:handoutMasterIdLst>
  <p:sldIdLst>
    <p:sldId id="379" r:id="rId5"/>
    <p:sldId id="380" r:id="rId6"/>
    <p:sldId id="381" r:id="rId7"/>
    <p:sldId id="383" r:id="rId8"/>
    <p:sldId id="385" r:id="rId9"/>
    <p:sldId id="384" r:id="rId10"/>
    <p:sldId id="386" r:id="rId11"/>
    <p:sldId id="387" r:id="rId12"/>
  </p:sldIdLst>
  <p:sldSz cx="12192000" cy="6858000"/>
  <p:notesSz cx="6858000" cy="9144000"/>
  <p:custDataLst>
    <p:tags r:id="rId15"/>
  </p:custDataLst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030" userDrawn="1">
          <p15:clr>
            <a:srgbClr val="A4A3A4"/>
          </p15:clr>
        </p15:guide>
        <p15:guide id="3" orient="horz" pos="1200" userDrawn="1">
          <p15:clr>
            <a:srgbClr val="A4A3A4"/>
          </p15:clr>
        </p15:guide>
        <p15:guide id="4" orient="horz" pos="1008" userDrawn="1">
          <p15:clr>
            <a:srgbClr val="A4A3A4"/>
          </p15:clr>
        </p15:guide>
        <p15:guide id="5" orient="horz" pos="379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3360" userDrawn="1">
          <p15:clr>
            <a:srgbClr val="A4A3A4"/>
          </p15:clr>
        </p15:guide>
        <p15:guide id="8" orient="horz" pos="3312" userDrawn="1">
          <p15:clr>
            <a:srgbClr val="A4A3A4"/>
          </p15:clr>
        </p15:guide>
        <p15:guide id="9" orient="horz" pos="240" userDrawn="1">
          <p15:clr>
            <a:srgbClr val="A4A3A4"/>
          </p15:clr>
        </p15:guide>
        <p15:guide id="10" orient="horz" pos="432" userDrawn="1">
          <p15:clr>
            <a:srgbClr val="A4A3A4"/>
          </p15:clr>
        </p15:guide>
        <p15:guide id="11" orient="horz" pos="2784" userDrawn="1">
          <p15:clr>
            <a:srgbClr val="A4A3A4"/>
          </p15:clr>
        </p15:guide>
        <p15:guide id="12" pos="3840" userDrawn="1">
          <p15:clr>
            <a:srgbClr val="A4A3A4"/>
          </p15:clr>
        </p15:guide>
        <p15:guide id="13" pos="959" userDrawn="1">
          <p15:clr>
            <a:srgbClr val="A4A3A4"/>
          </p15:clr>
        </p15:guide>
        <p15:guide id="14" pos="6145" userDrawn="1">
          <p15:clr>
            <a:srgbClr val="A4A3A4"/>
          </p15:clr>
        </p15:guide>
        <p15:guide id="15" pos="1247" userDrawn="1">
          <p15:clr>
            <a:srgbClr val="A4A3A4"/>
          </p15:clr>
        </p15:guide>
        <p15:guide id="16" pos="7009" userDrawn="1">
          <p15:clr>
            <a:srgbClr val="A4A3A4"/>
          </p15:clr>
        </p15:guide>
        <p15:guide id="17" pos="5857" userDrawn="1">
          <p15:clr>
            <a:srgbClr val="A4A3A4"/>
          </p15:clr>
        </p15:guide>
        <p15:guide id="18" pos="671" userDrawn="1">
          <p15:clr>
            <a:srgbClr val="A4A3A4"/>
          </p15:clr>
        </p15:guide>
        <p15:guide id="19" pos="7153" userDrawn="1">
          <p15:clr>
            <a:srgbClr val="A4A3A4"/>
          </p15:clr>
        </p15:guide>
        <p15:guide id="20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97C"/>
    <a:srgbClr val="003A52"/>
    <a:srgbClr val="E56D55"/>
    <a:srgbClr val="DE9F5B"/>
    <a:srgbClr val="F28360"/>
    <a:srgbClr val="BA6964"/>
    <a:srgbClr val="DB49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611BE-345D-4C0E-8D54-F215667CCABA}" v="1118" dt="2026-07-24T13:33:36.798"/>
  </p1510:revLst>
</p1510:revInfo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2109" autoAdjust="0"/>
  </p:normalViewPr>
  <p:slideViewPr>
    <p:cSldViewPr showGuides="1">
      <p:cViewPr>
        <p:scale>
          <a:sx n="100" d="100"/>
          <a:sy n="100" d="100"/>
        </p:scale>
        <p:origin x="2516" y="1116"/>
      </p:cViewPr>
      <p:guideLst>
        <p:guide orient="horz" pos="2160"/>
        <p:guide orient="horz" pos="4030"/>
        <p:guide orient="horz" pos="1200"/>
        <p:guide orient="horz" pos="1008"/>
        <p:guide orient="horz" pos="3792"/>
        <p:guide orient="horz"/>
        <p:guide orient="horz" pos="3360"/>
        <p:guide orient="horz" pos="3312"/>
        <p:guide orient="horz" pos="240"/>
        <p:guide orient="horz" pos="432"/>
        <p:guide orient="horz" pos="2784"/>
        <p:guide pos="3840"/>
        <p:guide pos="959"/>
        <p:guide pos="6145"/>
        <p:guide pos="1247"/>
        <p:guide pos="7009"/>
        <p:guide pos="5857"/>
        <p:guide pos="671"/>
        <p:guide pos="715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Marcador de posición de fecha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088EAF-6ECA-4616-85EF-35AA19C641F3}" type="datetimeFigureOut">
              <a:rPr lang="en-US"/>
              <a:t>7/24/2026</a:t>
            </a:fld>
            <a:endParaRPr dirty="0"/>
          </a:p>
        </p:txBody>
      </p:sp>
      <p:sp>
        <p:nvSpPr>
          <p:cNvPr id="4" name="Marcador de posición de pie de página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9F912AB-2776-42F2-A957-313FC7EFEDB9}" type="slidenum">
              <a:rPr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Marcador de posición de fecha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BD2D7A-D230-4F91-BD59-0A39C2703BA8}" type="datetimeFigureOut">
              <a:rPr lang="en-US"/>
              <a:t>7/24/2026</a:t>
            </a:fld>
            <a:endParaRPr dirty="0"/>
          </a:p>
        </p:txBody>
      </p:sp>
      <p:sp>
        <p:nvSpPr>
          <p:cNvPr id="4" name="Marcador de posición de imagen de diapositiva 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Haga clic para modificar los estilos de texto del patrón</a:t>
            </a:r>
          </a:p>
          <a:p>
            <a:pPr lvl="1" rtl="0"/>
            <a:r>
              <a:t>Segundo nivel</a:t>
            </a:r>
          </a:p>
          <a:p>
            <a:pPr lvl="2" rtl="0"/>
            <a:r>
              <a:t>Tercer nivel</a:t>
            </a:r>
          </a:p>
          <a:p>
            <a:pPr lvl="3" rtl="0"/>
            <a:r>
              <a:t>Cuarto nivel</a:t>
            </a:r>
          </a:p>
          <a:p>
            <a:pPr lvl="4" rtl="0"/>
            <a:r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3199CD-3E1B-4AE6-990F-76F925F5EA9F}" type="slidenum">
              <a:rPr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F93199CD-3E1B-4AE6-990F-76F925F5EA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7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1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7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3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8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1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2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6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5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579F1F0E-8DF0-62EB-B3C8-C6E1AEA0259F}"/>
              </a:ext>
            </a:extLst>
          </p:cNvPr>
          <p:cNvGrpSpPr/>
          <p:nvPr userDrawn="1"/>
        </p:nvGrpSpPr>
        <p:grpSpPr>
          <a:xfrm>
            <a:off x="455612" y="830375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32" name="Paralelogramo 31">
              <a:extLst>
                <a:ext uri="{FF2B5EF4-FFF2-40B4-BE49-F238E27FC236}">
                  <a16:creationId xmlns:a16="http://schemas.microsoft.com/office/drawing/2014/main" id="{24CC1C1D-653F-14A0-54A0-6492ABCC273D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92049B2C-54AB-505F-2572-7CD19C3D968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4" name="Paralelogramo 33">
              <a:extLst>
                <a:ext uri="{FF2B5EF4-FFF2-40B4-BE49-F238E27FC236}">
                  <a16:creationId xmlns:a16="http://schemas.microsoft.com/office/drawing/2014/main" id="{E23FD261-2FDC-1CD9-A732-906B64F405A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5" name="Paralelogramo 34">
              <a:extLst>
                <a:ext uri="{FF2B5EF4-FFF2-40B4-BE49-F238E27FC236}">
                  <a16:creationId xmlns:a16="http://schemas.microsoft.com/office/drawing/2014/main" id="{B90AE363-FA57-0E86-3B4F-5E0A0806185D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6" name="Paralelogramo 35">
              <a:extLst>
                <a:ext uri="{FF2B5EF4-FFF2-40B4-BE49-F238E27FC236}">
                  <a16:creationId xmlns:a16="http://schemas.microsoft.com/office/drawing/2014/main" id="{4137775E-DBE1-BA92-6BCD-E9944273E622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7" name="Paralelogramo 36">
              <a:extLst>
                <a:ext uri="{FF2B5EF4-FFF2-40B4-BE49-F238E27FC236}">
                  <a16:creationId xmlns:a16="http://schemas.microsoft.com/office/drawing/2014/main" id="{969524EC-636E-4802-109E-EE71B9D4EB96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8" name="Paralelogramo 37">
              <a:extLst>
                <a:ext uri="{FF2B5EF4-FFF2-40B4-BE49-F238E27FC236}">
                  <a16:creationId xmlns:a16="http://schemas.microsoft.com/office/drawing/2014/main" id="{A03E2BFD-896B-BEC0-29BD-917248BCC6E8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39" name="Paralelogramo 38">
              <a:extLst>
                <a:ext uri="{FF2B5EF4-FFF2-40B4-BE49-F238E27FC236}">
                  <a16:creationId xmlns:a16="http://schemas.microsoft.com/office/drawing/2014/main" id="{849527DE-31CB-858E-9758-616F93A85AE1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0" name="Paralelogramo 39">
              <a:extLst>
                <a:ext uri="{FF2B5EF4-FFF2-40B4-BE49-F238E27FC236}">
                  <a16:creationId xmlns:a16="http://schemas.microsoft.com/office/drawing/2014/main" id="{87C850F0-0452-2D8B-D0FC-FBB759016D0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1" name="Paralelogramo 40">
              <a:extLst>
                <a:ext uri="{FF2B5EF4-FFF2-40B4-BE49-F238E27FC236}">
                  <a16:creationId xmlns:a16="http://schemas.microsoft.com/office/drawing/2014/main" id="{11721AD6-6F30-0F58-A50E-32AF0FFCB1F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2" name="Paralelogramo 41">
              <a:extLst>
                <a:ext uri="{FF2B5EF4-FFF2-40B4-BE49-F238E27FC236}">
                  <a16:creationId xmlns:a16="http://schemas.microsoft.com/office/drawing/2014/main" id="{31E989A6-CA34-B2A2-552B-4FF5F76F9F4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3" name="Paralelogramo 42">
              <a:extLst>
                <a:ext uri="{FF2B5EF4-FFF2-40B4-BE49-F238E27FC236}">
                  <a16:creationId xmlns:a16="http://schemas.microsoft.com/office/drawing/2014/main" id="{6E8597AB-CD80-E7F0-F72F-40DFF3012FC5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4" name="Paralelogramo 43">
              <a:extLst>
                <a:ext uri="{FF2B5EF4-FFF2-40B4-BE49-F238E27FC236}">
                  <a16:creationId xmlns:a16="http://schemas.microsoft.com/office/drawing/2014/main" id="{B5A2B040-E43D-ED66-F37F-E956857A55FA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5" name="Paralelogramo 44">
              <a:extLst>
                <a:ext uri="{FF2B5EF4-FFF2-40B4-BE49-F238E27FC236}">
                  <a16:creationId xmlns:a16="http://schemas.microsoft.com/office/drawing/2014/main" id="{19B8B1CB-3502-9821-3B34-67B4601C88A7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46" name="Paralelogramo 45">
              <a:extLst>
                <a:ext uri="{FF2B5EF4-FFF2-40B4-BE49-F238E27FC236}">
                  <a16:creationId xmlns:a16="http://schemas.microsoft.com/office/drawing/2014/main" id="{335C657D-422D-A995-B64D-619B6A571325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3821D693-8EFB-0671-CF70-84C0E591B0C4}"/>
              </a:ext>
            </a:extLst>
          </p:cNvPr>
          <p:cNvCxnSpPr/>
          <p:nvPr userDrawn="1"/>
        </p:nvCxnSpPr>
        <p:spPr>
          <a:xfrm rot="10800000">
            <a:off x="455612" y="144779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7F43CFFE-3C15-DA64-2463-80330D89A4B9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3">
            <a:extLst>
              <a:ext uri="{FF2B5EF4-FFF2-40B4-BE49-F238E27FC236}">
                <a16:creationId xmlns:a16="http://schemas.microsoft.com/office/drawing/2014/main" id="{7DBBBDCC-257F-24EC-27A6-227D4593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904" y="1984248"/>
            <a:ext cx="8001000" cy="2359152"/>
          </a:xfrm>
        </p:spPr>
        <p:txBody>
          <a:bodyPr rtlCol="0">
            <a:normAutofit/>
          </a:bodyPr>
          <a:lstStyle>
            <a:lvl1pPr algn="l">
              <a:defRPr sz="4400" spc="-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Haga clic para modificar el estilo de título maestro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803904" y="4379976"/>
            <a:ext cx="8001000" cy="1033272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"/>
              <a:t>Haga clic para editar el estilo de subtítulo maestro</a:t>
            </a:r>
            <a:endParaRPr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F4D3A5D-9665-1463-8327-4E15CDD4E786}"/>
              </a:ext>
            </a:extLst>
          </p:cNvPr>
          <p:cNvGrpSpPr/>
          <p:nvPr userDrawn="1"/>
        </p:nvGrpSpPr>
        <p:grpSpPr>
          <a:xfrm>
            <a:off x="982255" y="2281053"/>
            <a:ext cx="2286082" cy="2295894"/>
            <a:chOff x="982255" y="2281053"/>
            <a:chExt cx="2286082" cy="2295894"/>
          </a:xfrm>
        </p:grpSpPr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B5C18144-9323-970D-DF65-B42D339F5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82255" y="2281053"/>
              <a:ext cx="2286082" cy="2295894"/>
            </a:xfrm>
            <a:prstGeom prst="rect">
              <a:avLst/>
            </a:prstGeom>
          </p:spPr>
        </p:pic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692D720A-50F8-524A-E72A-32B073A15EA3}"/>
                </a:ext>
              </a:extLst>
            </p:cNvPr>
            <p:cNvSpPr/>
            <p:nvPr/>
          </p:nvSpPr>
          <p:spPr>
            <a:xfrm>
              <a:off x="1793080" y="3120710"/>
              <a:ext cx="691763" cy="6917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29542C9E-426B-E68F-C132-EDEAD07A758E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upo 49">
            <a:extLst>
              <a:ext uri="{FF2B5EF4-FFF2-40B4-BE49-F238E27FC236}">
                <a16:creationId xmlns:a16="http://schemas.microsoft.com/office/drawing/2014/main" id="{FA1E96BB-4B51-AF19-15EA-803FCE1BCA9E}"/>
              </a:ext>
            </a:extLst>
          </p:cNvPr>
          <p:cNvGrpSpPr/>
          <p:nvPr userDrawn="1"/>
        </p:nvGrpSpPr>
        <p:grpSpPr>
          <a:xfrm>
            <a:off x="455611" y="5661786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51" name="Paralelogramo 50">
              <a:extLst>
                <a:ext uri="{FF2B5EF4-FFF2-40B4-BE49-F238E27FC236}">
                  <a16:creationId xmlns:a16="http://schemas.microsoft.com/office/drawing/2014/main" id="{44788C66-17F7-D9FE-31CB-95EE947F964B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2" name="Paralelogramo 51">
              <a:extLst>
                <a:ext uri="{FF2B5EF4-FFF2-40B4-BE49-F238E27FC236}">
                  <a16:creationId xmlns:a16="http://schemas.microsoft.com/office/drawing/2014/main" id="{31B611EC-0253-A614-C481-A1FCD9B63143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3" name="Paralelogramo 52">
              <a:extLst>
                <a:ext uri="{FF2B5EF4-FFF2-40B4-BE49-F238E27FC236}">
                  <a16:creationId xmlns:a16="http://schemas.microsoft.com/office/drawing/2014/main" id="{03E97C15-99B2-C628-FF01-1760B604D9C8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4" name="Paralelogramo 53">
              <a:extLst>
                <a:ext uri="{FF2B5EF4-FFF2-40B4-BE49-F238E27FC236}">
                  <a16:creationId xmlns:a16="http://schemas.microsoft.com/office/drawing/2014/main" id="{2AEDCD07-A50E-9AD7-7C5F-E6A58BDF0E00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5" name="Paralelogramo 54">
              <a:extLst>
                <a:ext uri="{FF2B5EF4-FFF2-40B4-BE49-F238E27FC236}">
                  <a16:creationId xmlns:a16="http://schemas.microsoft.com/office/drawing/2014/main" id="{2E1F0CA3-2F0D-C8C9-A26C-A94E8F9D5A6B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6" name="Paralelogramo 55">
              <a:extLst>
                <a:ext uri="{FF2B5EF4-FFF2-40B4-BE49-F238E27FC236}">
                  <a16:creationId xmlns:a16="http://schemas.microsoft.com/office/drawing/2014/main" id="{D2E8B704-7C74-5ABD-8551-0F18687DB3A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7" name="Paralelogramo 56">
              <a:extLst>
                <a:ext uri="{FF2B5EF4-FFF2-40B4-BE49-F238E27FC236}">
                  <a16:creationId xmlns:a16="http://schemas.microsoft.com/office/drawing/2014/main" id="{4DD0D25B-B68E-52C8-F485-82EFD6F534D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8" name="Paralelogramo 57">
              <a:extLst>
                <a:ext uri="{FF2B5EF4-FFF2-40B4-BE49-F238E27FC236}">
                  <a16:creationId xmlns:a16="http://schemas.microsoft.com/office/drawing/2014/main" id="{C0F9169B-78AC-E723-9732-25A301F5157B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9" name="Paralelogramo 58">
              <a:extLst>
                <a:ext uri="{FF2B5EF4-FFF2-40B4-BE49-F238E27FC236}">
                  <a16:creationId xmlns:a16="http://schemas.microsoft.com/office/drawing/2014/main" id="{D44E897D-3BAE-3070-F317-7B773773638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0" name="Paralelogramo 59">
              <a:extLst>
                <a:ext uri="{FF2B5EF4-FFF2-40B4-BE49-F238E27FC236}">
                  <a16:creationId xmlns:a16="http://schemas.microsoft.com/office/drawing/2014/main" id="{D12434D8-E614-02C4-35C5-5A8210624C5D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1" name="Paralelogramo 60">
              <a:extLst>
                <a:ext uri="{FF2B5EF4-FFF2-40B4-BE49-F238E27FC236}">
                  <a16:creationId xmlns:a16="http://schemas.microsoft.com/office/drawing/2014/main" id="{25D0EC30-F0CD-7028-07C6-31A0A46F5687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2" name="Paralelogramo 61">
              <a:extLst>
                <a:ext uri="{FF2B5EF4-FFF2-40B4-BE49-F238E27FC236}">
                  <a16:creationId xmlns:a16="http://schemas.microsoft.com/office/drawing/2014/main" id="{15C53FD7-0571-AFB4-76B8-C165647B0CF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3" name="Paralelogramo 62">
              <a:extLst>
                <a:ext uri="{FF2B5EF4-FFF2-40B4-BE49-F238E27FC236}">
                  <a16:creationId xmlns:a16="http://schemas.microsoft.com/office/drawing/2014/main" id="{F8C6A87F-6FA6-0F77-131A-0AE2A7E5FEBB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4" name="Paralelogramo 63">
              <a:extLst>
                <a:ext uri="{FF2B5EF4-FFF2-40B4-BE49-F238E27FC236}">
                  <a16:creationId xmlns:a16="http://schemas.microsoft.com/office/drawing/2014/main" id="{4696A920-0DEB-EB7A-DD1B-6ECABD381673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5" name="Paralelogramo 64">
              <a:extLst>
                <a:ext uri="{FF2B5EF4-FFF2-40B4-BE49-F238E27FC236}">
                  <a16:creationId xmlns:a16="http://schemas.microsoft.com/office/drawing/2014/main" id="{FFD56427-82E5-DFD7-1956-AEFF3610C52D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965F467F-C705-E684-A579-DB2879650B17}"/>
              </a:ext>
            </a:extLst>
          </p:cNvPr>
          <p:cNvGrpSpPr/>
          <p:nvPr userDrawn="1"/>
        </p:nvGrpSpPr>
        <p:grpSpPr>
          <a:xfrm>
            <a:off x="455617" y="5410200"/>
            <a:ext cx="11353792" cy="616755"/>
            <a:chOff x="760415" y="7127111"/>
            <a:chExt cx="10286999" cy="1148707"/>
          </a:xfrm>
        </p:grpSpPr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2F18B3D9-7217-BFE4-FE9A-DEDDDB26C748}"/>
                </a:ext>
              </a:extLst>
            </p:cNvPr>
            <p:cNvCxnSpPr/>
            <p:nvPr/>
          </p:nvCxnSpPr>
          <p:spPr>
            <a:xfrm>
              <a:off x="760416" y="8275818"/>
              <a:ext cx="10286997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E675D9E7-2DF6-6560-CC21-E81551E9AB0A}"/>
                </a:ext>
              </a:extLst>
            </p:cNvPr>
            <p:cNvCxnSpPr/>
            <p:nvPr/>
          </p:nvCxnSpPr>
          <p:spPr>
            <a:xfrm>
              <a:off x="760415" y="7127111"/>
              <a:ext cx="10286999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8DDEDD67-EA3D-363D-8A40-D49E5F1B4C1C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31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5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98" r:id="rId10"/>
    <p:sldLayoutId id="2147483697" r:id="rId11"/>
    <p:sldLayoutId id="214748369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0420" y="1387927"/>
            <a:ext cx="3212502" cy="19427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err="1">
                <a:latin typeface="+mj-lt"/>
                <a:ea typeface="+mj-ea"/>
                <a:cs typeface="+mj-cs"/>
              </a:rPr>
              <a:t>Metrobus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600"/>
              <a:t>Analytics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 </a:t>
            </a:r>
            <a:br>
              <a:rPr lang="en-US" sz="3600" b="1" kern="1200" dirty="0"/>
            </a:b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A51BF-BB9A-DDF6-8A9A-DF5DF504F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630" b="-5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19330" y="4161391"/>
            <a:ext cx="4573216" cy="9712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1500">
              <a:solidFill>
                <a:schemeClr val="tx1"/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Ricardo </a:t>
            </a:r>
            <a:r>
              <a:rPr lang="en-US" sz="1500" dirty="0" err="1">
                <a:solidFill>
                  <a:schemeClr val="tx1"/>
                </a:solidFill>
              </a:rPr>
              <a:t>fernández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chamorro</a:t>
            </a:r>
            <a:endParaRPr lang="en-US" sz="15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2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CCB7258-5C6D-F10A-EC08-06B1454FBB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6" t="15126" r="65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08385"/>
            <a:ext cx="12191999" cy="194961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6D0617-56C6-2888-862E-13DDD826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65" y="5268812"/>
            <a:ext cx="7260542" cy="12287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1300">
                <a:solidFill>
                  <a:srgbClr val="FFFFFF"/>
                </a:solidFill>
              </a:rPr>
            </a:br>
            <a:br>
              <a:rPr lang="en-US" sz="1300">
                <a:solidFill>
                  <a:srgbClr val="FFFFFF"/>
                </a:solidFill>
              </a:rPr>
            </a:br>
            <a:br>
              <a:rPr lang="en-US" sz="1300">
                <a:solidFill>
                  <a:srgbClr val="FFFFFF"/>
                </a:solidFill>
              </a:rPr>
            </a:br>
            <a:br>
              <a:rPr lang="en-US" sz="1300">
                <a:solidFill>
                  <a:srgbClr val="FFFFFF"/>
                </a:solidFill>
              </a:rPr>
            </a:br>
            <a:br>
              <a:rPr lang="en-US" sz="1300">
                <a:solidFill>
                  <a:srgbClr val="FFFFFF"/>
                </a:solidFill>
              </a:rPr>
            </a:b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EDC3E1-42E6-9104-8034-32625B874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9109" y="5268812"/>
            <a:ext cx="8177172" cy="12287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ts val="1000"/>
              </a:spcBef>
            </a:pPr>
            <a:r>
              <a:rPr lang="en-US" dirty="0">
                <a:solidFill>
                  <a:srgbClr val="FFFFFF"/>
                </a:solidFill>
              </a:rPr>
              <a:t>¿POR DONDE ESCAPA EL </a:t>
            </a:r>
            <a:r>
              <a:rPr lang="en-US">
                <a:solidFill>
                  <a:srgbClr val="FFFFFF"/>
                </a:solidFill>
              </a:rPr>
              <a:t>DINERO DE METROBUS?</a:t>
            </a:r>
          </a:p>
          <a:p>
            <a:pPr algn="ctr"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</a:rPr>
              <a:t>Humano vs </a:t>
            </a:r>
            <a:r>
              <a:rPr lang="en-US" sz="2000" dirty="0" err="1">
                <a:solidFill>
                  <a:srgbClr val="FFFFFF"/>
                </a:solidFill>
              </a:rPr>
              <a:t>mÁquina</a:t>
            </a:r>
          </a:p>
          <a:p>
            <a:pPr algn="r">
              <a:spcBef>
                <a:spcPts val="1000"/>
              </a:spcBef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112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A98845-A11F-6F1D-3BCE-EE19E3D8E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3950" y="548039"/>
            <a:ext cx="4819087" cy="6724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Datasets:</a:t>
            </a:r>
            <a:r>
              <a:rPr lang="en-US" b="0" cap="none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modelo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en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estrella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cruzando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tres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ejes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operativo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: histórico de viajes, partes de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mantenimiento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incidencias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en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ruta</a:t>
            </a: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s-ES" cap="none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b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cap="none" dirty="0" err="1">
                <a:solidFill>
                  <a:schemeClr val="tx1"/>
                </a:solidFill>
                <a:ea typeface="+mn-lt"/>
                <a:cs typeface="+mn-lt"/>
              </a:rPr>
              <a:t>Alcance</a:t>
            </a: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:</a:t>
            </a:r>
            <a:r>
              <a:rPr lang="en-US" b="0" cap="none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12 meses de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operativa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ininterrumpida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.</a:t>
            </a:r>
            <a:endParaRPr lang="en-US" cap="none" dirty="0">
              <a:solidFill>
                <a:srgbClr val="0070C0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b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Calidad :</a:t>
            </a:r>
            <a:r>
              <a:rPr lang="en-US" b="0" cap="none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los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datos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crudos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han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sido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depurados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y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estructurados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mediante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scripts de python.</a:t>
            </a:r>
            <a:endParaRPr lang="en-US" cap="none" dirty="0">
              <a:solidFill>
                <a:srgbClr val="0070C0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b="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Ingesta:</a:t>
            </a:r>
            <a:r>
              <a:rPr lang="en-US" b="0" cap="none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datos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inyectados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a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una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bbdd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de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postgre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y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posteriormente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tratados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con tableau</a:t>
            </a:r>
          </a:p>
          <a:p>
            <a:endParaRPr lang="en-US" b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8A7893-EB31-F519-CEF2-D05589EE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83" r="19615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5EC37478-BBB9-DD2B-1EC4-0C5EE2DE0553}"/>
              </a:ext>
            </a:extLst>
          </p:cNvPr>
          <p:cNvSpPr txBox="1">
            <a:spLocks/>
          </p:cNvSpPr>
          <p:nvPr/>
        </p:nvSpPr>
        <p:spPr>
          <a:xfrm>
            <a:off x="1610912" y="295402"/>
            <a:ext cx="3435083" cy="1228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 cap="all" spc="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1000"/>
              </a:spcBef>
            </a:pPr>
            <a:r>
              <a:rPr lang="en-US" sz="4800">
                <a:solidFill>
                  <a:srgbClr val="FFFFFF"/>
                </a:solidFill>
              </a:rPr>
              <a:t>DATOS</a:t>
            </a:r>
            <a:endParaRPr lang="es-ES" sz="4800"/>
          </a:p>
          <a:p>
            <a:pPr algn="r">
              <a:spcBef>
                <a:spcPts val="1000"/>
              </a:spcBef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54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1B1EBB-01E7-58EE-98AC-BEC7E906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7" y="-149783"/>
            <a:ext cx="1040415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>
                <a:highlight>
                  <a:srgbClr val="F5F5F5"/>
                </a:highlight>
              </a:rPr>
              <a:t>EL GASTO CORRECTIVO SUPERA AL PREVENTIVO</a:t>
            </a:r>
            <a:endParaRPr lang="en-US" sz="3200" b="0">
              <a:highlight>
                <a:srgbClr val="F5F5F5"/>
              </a:highligh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6B28EB-D6A7-1302-AEF1-BDE47D844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10" y="5376991"/>
            <a:ext cx="11892772" cy="5580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000" cap="none" dirty="0">
                <a:solidFill>
                  <a:srgbClr val="0070C0"/>
                </a:solidFill>
              </a:rPr>
              <a:t>La </a:t>
            </a:r>
            <a:r>
              <a:rPr lang="en-US" sz="2000" cap="none" dirty="0" err="1">
                <a:solidFill>
                  <a:srgbClr val="0070C0"/>
                </a:solidFill>
              </a:rPr>
              <a:t>inversión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económica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en</a:t>
            </a:r>
            <a:r>
              <a:rPr lang="en-US" sz="2000" cap="none" dirty="0">
                <a:solidFill>
                  <a:srgbClr val="0070C0"/>
                </a:solidFill>
              </a:rPr>
              <a:t> el </a:t>
            </a:r>
            <a:r>
              <a:rPr lang="en-US" sz="2000" cap="none" dirty="0" err="1">
                <a:solidFill>
                  <a:srgbClr val="0070C0"/>
                </a:solidFill>
              </a:rPr>
              <a:t>gasto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sobre</a:t>
            </a:r>
            <a:r>
              <a:rPr lang="en-US" sz="2000" cap="none" dirty="0">
                <a:solidFill>
                  <a:srgbClr val="0070C0"/>
                </a:solidFill>
              </a:rPr>
              <a:t> la </a:t>
            </a:r>
            <a:r>
              <a:rPr lang="en-US" sz="2000" cap="none" dirty="0" err="1">
                <a:solidFill>
                  <a:srgbClr val="0070C0"/>
                </a:solidFill>
              </a:rPr>
              <a:t>reparación</a:t>
            </a:r>
            <a:r>
              <a:rPr lang="en-US" sz="2000" cap="none" dirty="0">
                <a:solidFill>
                  <a:srgbClr val="0070C0"/>
                </a:solidFill>
              </a:rPr>
              <a:t> de </a:t>
            </a:r>
            <a:r>
              <a:rPr lang="en-US" sz="2000" cap="none" dirty="0" err="1">
                <a:solidFill>
                  <a:srgbClr val="0070C0"/>
                </a:solidFill>
              </a:rPr>
              <a:t>vehículos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supera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claramente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a</a:t>
            </a:r>
            <a:r>
              <a:rPr lang="en-US" sz="2000" cap="none" dirty="0">
                <a:solidFill>
                  <a:srgbClr val="0070C0"/>
                </a:solidFill>
              </a:rPr>
              <a:t> la </a:t>
            </a:r>
            <a:r>
              <a:rPr lang="en-US" sz="2000" cap="none" dirty="0" err="1">
                <a:solidFill>
                  <a:srgbClr val="0070C0"/>
                </a:solidFill>
              </a:rPr>
              <a:t>inversión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en</a:t>
            </a:r>
            <a:r>
              <a:rPr lang="en-US" sz="2000" cap="none" dirty="0">
                <a:solidFill>
                  <a:srgbClr val="0070C0"/>
                </a:solidFill>
              </a:rPr>
              <a:t> </a:t>
            </a:r>
            <a:r>
              <a:rPr lang="en-US" sz="2000" cap="none" dirty="0" err="1">
                <a:solidFill>
                  <a:srgbClr val="0070C0"/>
                </a:solidFill>
              </a:rPr>
              <a:t>prevención</a:t>
            </a:r>
            <a:r>
              <a:rPr lang="en-US" sz="2000" cap="none" dirty="0">
                <a:solidFill>
                  <a:srgbClr val="0070C0"/>
                </a:solidFill>
              </a:rPr>
              <a:t> de </a:t>
            </a:r>
            <a:r>
              <a:rPr lang="en-US" sz="2000" cap="none" dirty="0" err="1">
                <a:solidFill>
                  <a:srgbClr val="0070C0"/>
                </a:solidFill>
              </a:rPr>
              <a:t>averías</a:t>
            </a:r>
            <a:endParaRPr lang="en-US" sz="2000" cap="none" dirty="0" err="1">
              <a:solidFill>
                <a:srgbClr val="000000"/>
              </a:solidFill>
            </a:endParaRPr>
          </a:p>
          <a:p>
            <a:pPr algn="ctr">
              <a:spcBef>
                <a:spcPts val="1000"/>
              </a:spcBef>
            </a:pPr>
            <a:endParaRPr lang="en-US" sz="2300" cap="none" dirty="0">
              <a:solidFill>
                <a:srgbClr val="0070C0"/>
              </a:solidFill>
            </a:endParaRPr>
          </a:p>
        </p:txBody>
      </p:sp>
      <p:pic>
        <p:nvPicPr>
          <p:cNvPr id="6" name="Imagen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B923937-F161-77EB-EADC-5EC4AEE96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44" y="974939"/>
            <a:ext cx="11001671" cy="440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A9A71-23F8-4D04-C3C0-B95687113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57E1C-ADE6-9153-D5A8-33B634194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6DE353-B2AA-F474-6D2A-DF6F2DE4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7" y="353681"/>
            <a:ext cx="1040415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/>
              <a:t>EL PROBLEMA NO ES GENERALIZADO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92F5B4-FEBD-E2C4-2F18-A47398752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7952" y="5581098"/>
            <a:ext cx="8817560" cy="5580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sz="2300" cap="none" dirty="0" err="1">
                <a:solidFill>
                  <a:srgbClr val="0070C0"/>
                </a:solidFill>
              </a:rPr>
              <a:t>Existen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2300" cap="none" dirty="0" err="1">
                <a:solidFill>
                  <a:srgbClr val="0070C0"/>
                </a:solidFill>
              </a:rPr>
              <a:t>modelos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2300" cap="none" dirty="0" err="1">
                <a:solidFill>
                  <a:srgbClr val="0070C0"/>
                </a:solidFill>
              </a:rPr>
              <a:t>concretos</a:t>
            </a:r>
            <a:r>
              <a:rPr lang="en-US" sz="2300" cap="none" dirty="0">
                <a:solidFill>
                  <a:srgbClr val="0070C0"/>
                </a:solidFill>
              </a:rPr>
              <a:t> de autobuses </a:t>
            </a:r>
            <a:r>
              <a:rPr lang="en-US" sz="2300" cap="none" dirty="0" err="1">
                <a:solidFill>
                  <a:srgbClr val="0070C0"/>
                </a:solidFill>
              </a:rPr>
              <a:t>que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2300" cap="none" dirty="0" err="1">
                <a:solidFill>
                  <a:srgbClr val="0070C0"/>
                </a:solidFill>
              </a:rPr>
              <a:t>concentran</a:t>
            </a:r>
            <a:r>
              <a:rPr lang="en-US" sz="2300" cap="none" dirty="0">
                <a:solidFill>
                  <a:srgbClr val="0070C0"/>
                </a:solidFill>
              </a:rPr>
              <a:t> </a:t>
            </a:r>
            <a:r>
              <a:rPr lang="en-US" sz="2300" cap="none" dirty="0" err="1">
                <a:solidFill>
                  <a:srgbClr val="0070C0"/>
                </a:solidFill>
              </a:rPr>
              <a:t>los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2300" cap="none" dirty="0" err="1">
                <a:solidFill>
                  <a:srgbClr val="0070C0"/>
                </a:solidFill>
              </a:rPr>
              <a:t>costes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2300" cap="none" dirty="0" err="1">
                <a:solidFill>
                  <a:srgbClr val="0070C0"/>
                </a:solidFill>
              </a:rPr>
              <a:t>en</a:t>
            </a:r>
            <a:r>
              <a:rPr lang="en-US" sz="2300" cap="none" dirty="0">
                <a:solidFill>
                  <a:srgbClr val="0070C0"/>
                </a:solidFill>
              </a:rPr>
              <a:t> </a:t>
            </a:r>
            <a:r>
              <a:rPr lang="en-US" sz="2300" cap="none" dirty="0" err="1">
                <a:solidFill>
                  <a:srgbClr val="0070C0"/>
                </a:solidFill>
              </a:rPr>
              <a:t>reparaciones</a:t>
            </a:r>
            <a:r>
              <a:rPr lang="en-US" sz="2300" cap="none" dirty="0">
                <a:solidFill>
                  <a:srgbClr val="0070C0"/>
                </a:solidFill>
              </a:rPr>
              <a:t> 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C14BE-098E-DBB7-58C7-F5893A659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559" y="1708094"/>
            <a:ext cx="9552346" cy="371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83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44410F-144B-65F4-C853-A1E38893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169" y="202679"/>
            <a:ext cx="9089091" cy="7321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EL MÁXIMO GASTO ES LA SEGURIDAD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ADE9F0-1F8B-8890-335D-25F59FB9D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4916" y="4854813"/>
            <a:ext cx="8202168" cy="134512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>
              <a:spcBef>
                <a:spcPts val="1000"/>
              </a:spcBef>
            </a:pP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El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altísimo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coste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de las 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reparaciones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correctivas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 se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debe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a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que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la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flota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está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sufriendo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una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altísima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tasa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de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siniestralidad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y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eventos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de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seguridad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externos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,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que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obliga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a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inyectar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miles de euros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en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reparaciones</a:t>
            </a:r>
            <a:r>
              <a:rPr lang="en-US" cap="none" dirty="0">
                <a:solidFill>
                  <a:srgbClr val="0070C0"/>
                </a:solidFill>
                <a:ea typeface="+mn-lt"/>
                <a:cs typeface="+mn-lt"/>
              </a:rPr>
              <a:t> de </a:t>
            </a:r>
            <a:r>
              <a:rPr lang="en-US" cap="none" dirty="0" err="1">
                <a:solidFill>
                  <a:srgbClr val="0070C0"/>
                </a:solidFill>
                <a:ea typeface="+mn-lt"/>
                <a:cs typeface="+mn-lt"/>
              </a:rPr>
              <a:t>urgencia</a:t>
            </a:r>
            <a:endParaRPr lang="es-ES" cap="none" dirty="0" err="1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E47F13-D5C0-377C-BB63-02D1E669A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55" y="969081"/>
            <a:ext cx="11271939" cy="340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7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943F0-79C6-2852-1271-9FC03E55F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419" y="349326"/>
            <a:ext cx="4531264" cy="6073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/>
              <a:t>RECOMENDACIONES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AE6315-1E5F-434A-7388-574B72796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9699" y="1557690"/>
            <a:ext cx="4240785" cy="4871414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cap="none" dirty="0" err="1">
                <a:solidFill>
                  <a:schemeClr val="tx1"/>
                </a:solidFill>
                <a:ea typeface="+mn-lt"/>
                <a:cs typeface="+mn-lt"/>
              </a:rPr>
              <a:t>Recomendación</a:t>
            </a: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 1: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Auditoría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y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renegociación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de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pólizas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de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flota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a causa del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gasto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en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seguridad</a:t>
            </a:r>
            <a:endParaRPr lang="en-US" b="0" cap="none" dirty="0">
              <a:solidFill>
                <a:srgbClr val="0070C0"/>
              </a:solidFill>
              <a:ea typeface="+mn-lt"/>
              <a:cs typeface="+mn-lt"/>
            </a:endParaRPr>
          </a:p>
          <a:p>
            <a:pPr>
              <a:spcBef>
                <a:spcPts val="1000"/>
              </a:spcBef>
            </a:pPr>
            <a:endParaRPr lang="en-US" b="0" cap="none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</a:pPr>
            <a:r>
              <a:rPr lang="en-US" cap="none" dirty="0" err="1">
                <a:solidFill>
                  <a:schemeClr val="tx1"/>
                </a:solidFill>
                <a:ea typeface="+mn-lt"/>
                <a:cs typeface="+mn-lt"/>
              </a:rPr>
              <a:t>Recomendación</a:t>
            </a: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 2: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Cuarentena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de Fabricantes.</a:t>
            </a:r>
            <a:endParaRPr lang="en-US" dirty="0">
              <a:solidFill>
                <a:srgbClr val="0070C0"/>
              </a:solidFill>
              <a:ea typeface="+mn-lt"/>
              <a:cs typeface="+mn-lt"/>
            </a:endParaRPr>
          </a:p>
          <a:p>
            <a:pPr>
              <a:spcBef>
                <a:spcPts val="1000"/>
              </a:spcBef>
            </a:pPr>
            <a:endParaRPr lang="en-US" b="0" cap="none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</a:pPr>
            <a:r>
              <a:rPr lang="en-US" cap="none" dirty="0" err="1">
                <a:solidFill>
                  <a:schemeClr val="tx1"/>
                </a:solidFill>
                <a:ea typeface="+mn-lt"/>
                <a:cs typeface="+mn-lt"/>
              </a:rPr>
              <a:t>Recomendación</a:t>
            </a:r>
            <a:r>
              <a:rPr lang="en-US" cap="none" dirty="0">
                <a:solidFill>
                  <a:schemeClr val="tx1"/>
                </a:solidFill>
                <a:ea typeface="+mn-lt"/>
                <a:cs typeface="+mn-lt"/>
              </a:rPr>
              <a:t> 3: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Prevención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Activa vs.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Reactiva</a:t>
            </a:r>
            <a:endParaRPr lang="en-US" dirty="0" err="1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A54014-088F-5CE8-D1C5-B92DB7F5C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13" r="18162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8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398B4B-C580-20AC-BEF1-49F7C73A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" y="-1280"/>
            <a:ext cx="4656011" cy="20778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LIMITACIONES Y PROXIMOS PASOS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3C7576-6AEA-BC19-C90F-DF904CD7D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5" y="2081741"/>
            <a:ext cx="4793896" cy="47694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 err="1">
                <a:solidFill>
                  <a:schemeClr val="tx1"/>
                </a:solidFill>
              </a:rPr>
              <a:t>Limitaciones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285750" indent="-285750">
              <a:spcBef>
                <a:spcPts val="1000"/>
              </a:spcBef>
              <a:buFont typeface="Calibri" panose="020B0604020202020204" pitchFamily="34" charset="0"/>
              <a:buChar char="-"/>
            </a:pP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Falta de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granularidad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en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los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siniestros</a:t>
            </a:r>
            <a:endParaRPr lang="en-US" b="0" cap="none" dirty="0">
              <a:solidFill>
                <a:srgbClr val="0070C0"/>
              </a:solidFill>
              <a:ea typeface="+mn-lt"/>
              <a:cs typeface="+mn-lt"/>
            </a:endParaRPr>
          </a:p>
          <a:p>
            <a:pPr marL="285750" indent="-285750">
              <a:spcBef>
                <a:spcPts val="1000"/>
              </a:spcBef>
              <a:buFont typeface="Calibri" panose="020B0604020202020204" pitchFamily="34" charset="0"/>
              <a:buChar char="-"/>
            </a:pPr>
            <a:r>
              <a:rPr lang="en-US" b="0" cap="none" dirty="0">
                <a:solidFill>
                  <a:srgbClr val="0070C0"/>
                </a:solidFill>
              </a:rPr>
              <a:t>Falta de </a:t>
            </a:r>
            <a:r>
              <a:rPr lang="en-US" b="0" cap="none" dirty="0" err="1">
                <a:solidFill>
                  <a:srgbClr val="0070C0"/>
                </a:solidFill>
              </a:rPr>
              <a:t>datos</a:t>
            </a:r>
            <a:r>
              <a:rPr lang="en-US" b="0" cap="none" dirty="0">
                <a:solidFill>
                  <a:srgbClr val="0070C0"/>
                </a:solidFill>
              </a:rPr>
              <a:t> </a:t>
            </a:r>
            <a:r>
              <a:rPr lang="en-US" b="0" cap="none" dirty="0" err="1">
                <a:solidFill>
                  <a:srgbClr val="0070C0"/>
                </a:solidFill>
              </a:rPr>
              <a:t>detallados</a:t>
            </a:r>
            <a:r>
              <a:rPr lang="en-US" b="0" cap="none" dirty="0">
                <a:solidFill>
                  <a:srgbClr val="0070C0"/>
                </a:solidFill>
              </a:rPr>
              <a:t> </a:t>
            </a:r>
            <a:r>
              <a:rPr lang="en-US" b="0" cap="none" dirty="0" err="1">
                <a:solidFill>
                  <a:srgbClr val="0070C0"/>
                </a:solidFill>
              </a:rPr>
              <a:t>en</a:t>
            </a:r>
            <a:r>
              <a:rPr lang="en-US" b="0" cap="none" dirty="0">
                <a:solidFill>
                  <a:srgbClr val="0070C0"/>
                </a:solidFill>
              </a:rPr>
              <a:t> </a:t>
            </a:r>
            <a:r>
              <a:rPr lang="en-US" b="0" cap="none" dirty="0" err="1">
                <a:solidFill>
                  <a:srgbClr val="0070C0"/>
                </a:solidFill>
              </a:rPr>
              <a:t>averías</a:t>
            </a:r>
            <a:r>
              <a:rPr lang="en-US" b="0" cap="none" dirty="0">
                <a:solidFill>
                  <a:srgbClr val="0070C0"/>
                </a:solidFill>
              </a:rPr>
              <a:t> y </a:t>
            </a:r>
            <a:r>
              <a:rPr lang="en-US" b="0" cap="none" dirty="0" err="1">
                <a:solidFill>
                  <a:srgbClr val="0070C0"/>
                </a:solidFill>
              </a:rPr>
              <a:t>seguridad</a:t>
            </a:r>
            <a:endParaRPr lang="en-US" b="0" cap="none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</a:pPr>
            <a:r>
              <a:rPr lang="en-US" cap="none">
                <a:solidFill>
                  <a:schemeClr val="tx1"/>
                </a:solidFill>
              </a:rPr>
              <a:t>PROXIMOS PASOS:</a:t>
            </a:r>
          </a:p>
          <a:p>
            <a:pPr marL="285750" indent="-285750">
              <a:spcBef>
                <a:spcPts val="1000"/>
              </a:spcBef>
              <a:buFont typeface="Calibri" panose="020B0604020202020204" pitchFamily="34" charset="0"/>
              <a:buChar char="-"/>
            </a:pP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Análisis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espacial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de puntos negros</a:t>
            </a:r>
          </a:p>
          <a:p>
            <a:pPr marL="285750" indent="-285750">
              <a:spcBef>
                <a:spcPts val="1000"/>
              </a:spcBef>
              <a:buFont typeface="Calibri" panose="020B0604020202020204" pitchFamily="34" charset="0"/>
              <a:buChar char="-"/>
            </a:pP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Sistema de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Alertas</a:t>
            </a:r>
            <a:r>
              <a:rPr lang="en-US" b="0" cap="none" dirty="0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en-US" b="0" cap="none" dirty="0" err="1">
                <a:solidFill>
                  <a:srgbClr val="0070C0"/>
                </a:solidFill>
                <a:ea typeface="+mn-lt"/>
                <a:cs typeface="+mn-lt"/>
              </a:rPr>
              <a:t>Tempranas</a:t>
            </a:r>
            <a:endParaRPr lang="en-US" b="0" cap="none" dirty="0" err="1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047FFB-9C03-8AB6-A074-4EF5AC14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4" r="15173" b="-2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e Offic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79A7DD-7AD4-4E5D-8534-CBBF6EB29F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1A9A6D-0DC3-4010-94FC-B36121170FA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D06ADB8-B0F6-49CA-89C5-223A9BA290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355</Words>
  <Application>Microsoft Office PowerPoint</Application>
  <PresentationFormat>Panorámica</PresentationFormat>
  <Paragraphs>129</Paragraphs>
  <Slides>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VanillaVTI</vt:lpstr>
      <vt:lpstr>Metrobus Analytics  </vt:lpstr>
      <vt:lpstr>     </vt:lpstr>
      <vt:lpstr>Presentación de PowerPoint</vt:lpstr>
      <vt:lpstr>EL GASTO CORRECTIVO SUPERA AL PREVENTIVO</vt:lpstr>
      <vt:lpstr>EL PROBLEMA NO ES GENERALIZADO</vt:lpstr>
      <vt:lpstr>EL MÁXIMO GASTO ES LA SEGURIDAD</vt:lpstr>
      <vt:lpstr>RECOMENDACIONES</vt:lpstr>
      <vt:lpstr>LIMITACIONES Y PROXIMOS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268</cp:revision>
  <dcterms:created xsi:type="dcterms:W3CDTF">2026-07-24T09:08:26Z</dcterms:created>
  <dcterms:modified xsi:type="dcterms:W3CDTF">2026-07-24T13:33:39Z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